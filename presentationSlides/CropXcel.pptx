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03E03-38D4-4573-B40B-EF3ED387B867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DE4AC-A0DF-4FFD-9A90-886E67DC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3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DE4AC-A0DF-4FFD-9A90-886E67DCC3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9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502920"/>
            <a:ext cx="2148840" cy="365760"/>
          </a:xfrm>
          <a:prstGeom prst="round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558561"/>
            <a:ext cx="1920240" cy="26161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100"/>
              <a:t>GIRLCODE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922" y="1049541"/>
            <a:ext cx="7132320" cy="83099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4800" b="1">
                <a:solidFill>
                  <a:srgbClr val="224C30"/>
                </a:solidFill>
                <a:latin typeface="Aptos Display"/>
              </a:defRPr>
            </a:pPr>
            <a:r>
              <a:rPr lang="en-US" dirty="0"/>
              <a:t>CropXcel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30079" y="2387817"/>
            <a:ext cx="7274052" cy="58477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28372A"/>
                </a:solidFill>
                <a:latin typeface="Aptos"/>
              </a:defRPr>
            </a:pPr>
            <a:r>
              <a:rPr dirty="0"/>
              <a:t>An AI-powered farm planning platform that guides farmers from crop selection and planting decisions to expected yield and market readiness.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802" y="1843529"/>
            <a:ext cx="67665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000" b="0">
                <a:solidFill>
                  <a:srgbClr val="769758"/>
                </a:solidFill>
                <a:latin typeface="Aptos"/>
              </a:defRPr>
            </a:pPr>
            <a:r>
              <a:rPr dirty="0"/>
              <a:t>Smarter Decisions, Stronger Harvests.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103" y="3165843"/>
            <a:ext cx="6720840" cy="749808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402" y="3257154"/>
            <a:ext cx="6309360" cy="58477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224C30"/>
                </a:solidFill>
                <a:latin typeface="Aptos"/>
              </a:defRPr>
            </a:pPr>
            <a:r>
              <a:rPr sz="1600" dirty="0"/>
              <a:t>Know what to grow. Know when to plant. Know what to expect. Know where to sell.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638291"/>
            <a:ext cx="1645920" cy="27699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1">
                <a:solidFill>
                  <a:srgbClr val="D2A94F"/>
                </a:solidFill>
                <a:latin typeface="Aptos"/>
              </a:defRPr>
            </a:pPr>
            <a:r>
              <a:rPr sz="1200" dirty="0"/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6131" y="4294448"/>
            <a:ext cx="6153912" cy="107721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50" b="0">
                <a:solidFill>
                  <a:srgbClr val="28372A"/>
                </a:solidFill>
                <a:latin typeface="Aptos"/>
              </a:defRPr>
            </a:pPr>
            <a:r>
              <a:rPr lang="en-US" sz="1600" dirty="0"/>
              <a:t>  LOICE MUHINDO  </a:t>
            </a:r>
          </a:p>
          <a:p>
            <a:pPr algn="l">
              <a:defRPr sz="1250" b="0">
                <a:solidFill>
                  <a:srgbClr val="28372A"/>
                </a:solidFill>
                <a:latin typeface="Aptos"/>
              </a:defRPr>
            </a:pPr>
            <a:r>
              <a:rPr lang="en-US" sz="1600" dirty="0"/>
              <a:t>  AYANGO FRANCES  </a:t>
            </a:r>
          </a:p>
          <a:p>
            <a:pPr algn="l">
              <a:defRPr sz="1250" b="0">
                <a:solidFill>
                  <a:srgbClr val="28372A"/>
                </a:solidFill>
                <a:latin typeface="Aptos"/>
              </a:defRPr>
            </a:pPr>
            <a:r>
              <a:rPr lang="en-US" sz="1600" dirty="0"/>
              <a:t>  MUNEZERO DOREEN  </a:t>
            </a:r>
          </a:p>
          <a:p>
            <a:pPr algn="l">
              <a:defRPr sz="1250" b="0">
                <a:solidFill>
                  <a:srgbClr val="28372A"/>
                </a:solidFill>
                <a:latin typeface="Aptos"/>
              </a:defRPr>
            </a:pPr>
            <a:r>
              <a:rPr lang="en-US" sz="1600" dirty="0"/>
              <a:t>  MIREMBE JANE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1049" y="4047560"/>
            <a:ext cx="45720" cy="1143000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04161" y="4294448"/>
            <a:ext cx="347472" cy="182880"/>
          </a:xfrm>
          <a:prstGeom prst="ellipse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69337" y="4623632"/>
            <a:ext cx="347472" cy="182880"/>
          </a:xfrm>
          <a:prstGeom prst="ellipse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974009" y="4047560"/>
            <a:ext cx="45720" cy="1143000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27121" y="4294448"/>
            <a:ext cx="347472" cy="182880"/>
          </a:xfrm>
          <a:prstGeom prst="ellipse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992297" y="4623632"/>
            <a:ext cx="347472" cy="182880"/>
          </a:xfrm>
          <a:prstGeom prst="ellipse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96969" y="4047560"/>
            <a:ext cx="45720" cy="1143000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0081" y="4294448"/>
            <a:ext cx="347472" cy="182880"/>
          </a:xfrm>
          <a:prstGeom prst="ellipse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15257" y="4623632"/>
            <a:ext cx="347472" cy="182880"/>
          </a:xfrm>
          <a:prstGeom prst="ellipse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9605" y="2173414"/>
            <a:ext cx="31089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427041"/>
                </a:solidFill>
                <a:latin typeface="Aptos"/>
              </a:defRPr>
            </a:pPr>
            <a:r>
              <a:rPr dirty="0"/>
              <a:t>FROM SOIL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9605" y="2382012"/>
            <a:ext cx="31089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500" b="1">
                <a:solidFill>
                  <a:srgbClr val="224C30"/>
                </a:solidFill>
                <a:latin typeface="Aptos"/>
              </a:defRPr>
            </a:pPr>
            <a:r>
              <a:rPr dirty="0"/>
              <a:t>TO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2798064"/>
            <a:ext cx="28346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0">
                <a:solidFill>
                  <a:srgbClr val="5B6759"/>
                </a:solidFill>
                <a:latin typeface="Aptos"/>
              </a:defRPr>
            </a:pPr>
            <a:r>
              <a:rPr dirty="0"/>
              <a:t>One connected farmer journey.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393192"/>
            <a:ext cx="25603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27041"/>
                </a:solidFill>
                <a:latin typeface="Aptos"/>
              </a:defRPr>
            </a:pPr>
            <a:r>
              <a:rPr sz="1600" dirty="0"/>
              <a:t>01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13232"/>
            <a:ext cx="10332720" cy="9541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800" b="1">
                <a:solidFill>
                  <a:srgbClr val="224C30"/>
                </a:solidFill>
                <a:latin typeface="Aptos Display"/>
              </a:defRPr>
            </a:pPr>
            <a:r>
              <a:rPr dirty="0"/>
              <a:t>Farmers </a:t>
            </a:r>
            <a:r>
              <a:rPr lang="en-US" dirty="0"/>
              <a:t>guess or use traditional information to know what and when to plant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1348"/>
            <a:ext cx="103327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5B6759"/>
                </a:solidFill>
                <a:latin typeface="Aptos"/>
              </a:defRPr>
            </a:pPr>
            <a:r>
              <a:rPr sz="1600" dirty="0"/>
              <a:t>Before a crop is harvested, a farmer must decide what to grow, when to plant, what </a:t>
            </a:r>
            <a:r>
              <a:rPr lang="en-US" sz="1600" dirty="0"/>
              <a:t>price </a:t>
            </a:r>
            <a:r>
              <a:rPr sz="1600" dirty="0"/>
              <a:t>to expect </a:t>
            </a:r>
            <a:r>
              <a:rPr lang="en-US" sz="1600" dirty="0"/>
              <a:t>in</a:t>
            </a:r>
            <a:r>
              <a:rPr sz="1600" dirty="0"/>
              <a:t> the 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93392"/>
            <a:ext cx="108356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2331720"/>
            <a:ext cx="2423160" cy="502920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459736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50" b="1">
                <a:solidFill>
                  <a:srgbClr val="224C30"/>
                </a:solidFill>
                <a:latin typeface="Aptos"/>
              </a:defRPr>
            </a:pPr>
            <a:r>
              <a:t>WHAT TO GROW?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2194560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50" b="0">
                <a:solidFill>
                  <a:srgbClr val="28372A"/>
                </a:solidFill>
                <a:latin typeface="Aptos"/>
              </a:defRPr>
            </a:pPr>
            <a:r>
              <a:t>Crop choice may rely on habit or guesswork instead of soil, location and environmental suitability.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2331720"/>
            <a:ext cx="2423160" cy="502920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1024" y="2459736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50" b="1">
                <a:solidFill>
                  <a:srgbClr val="224C30"/>
                </a:solidFill>
                <a:latin typeface="Aptos"/>
              </a:defRPr>
            </a:pPr>
            <a:r>
              <a:t>WHEN TO PLANT?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017520"/>
            <a:ext cx="2194560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50" b="0">
                <a:solidFill>
                  <a:srgbClr val="28372A"/>
                </a:solidFill>
                <a:latin typeface="Aptos"/>
              </a:defRPr>
            </a:pPr>
            <a:r>
              <a:t>Changing rainfall and weather patterns make the right planting window difficult to judge.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331720"/>
            <a:ext cx="2423160" cy="502920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459736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50" b="1">
                <a:solidFill>
                  <a:srgbClr val="224C30"/>
                </a:solidFill>
                <a:latin typeface="Aptos"/>
              </a:defRPr>
            </a:pPr>
            <a:r>
              <a:t>WHAT TO EXPECT?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017520"/>
            <a:ext cx="2194560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50" b="0">
                <a:solidFill>
                  <a:srgbClr val="28372A"/>
                </a:solidFill>
                <a:latin typeface="Aptos"/>
              </a:defRPr>
            </a:pPr>
            <a:r>
              <a:t>Farmers may have little visibility into likely harvest timing or an indicative yield before investing.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6528" y="2331720"/>
            <a:ext cx="2423160" cy="502920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459736"/>
            <a:ext cx="2240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50" b="1">
                <a:solidFill>
                  <a:srgbClr val="224C30"/>
                </a:solidFill>
                <a:latin typeface="Aptos"/>
              </a:defRPr>
            </a:pPr>
            <a:r>
              <a:t>WHERE TO SELL?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3017520"/>
            <a:ext cx="2194560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50" b="0">
                <a:solidFill>
                  <a:srgbClr val="28372A"/>
                </a:solidFill>
                <a:latin typeface="Aptos"/>
              </a:defRPr>
            </a:pPr>
            <a:r>
              <a:t>Market information often comes late, leaving farmers to look for buyers only after production.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12664"/>
            <a:ext cx="93726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result: poor crop choices, mistimed planting, uncertain production and weaker market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393192"/>
            <a:ext cx="25603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27041"/>
                </a:solidFill>
                <a:latin typeface="Aptos"/>
              </a:defRPr>
            </a:pPr>
            <a:r>
              <a:rPr sz="1600" dirty="0"/>
              <a:t>02  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13232"/>
            <a:ext cx="10332720" cy="5232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800" b="1">
                <a:solidFill>
                  <a:srgbClr val="224C30"/>
                </a:solidFill>
                <a:latin typeface="Aptos Display"/>
              </a:defRPr>
            </a:pPr>
            <a:r>
              <a:rPr lang="en-US" dirty="0"/>
              <a:t>CropXcel</a:t>
            </a:r>
            <a:r>
              <a:rPr dirty="0"/>
              <a:t> turns farm data into one practical decision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10332720" cy="58477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5B6759"/>
                </a:solidFill>
                <a:latin typeface="Aptos"/>
              </a:defRPr>
            </a:pPr>
            <a:r>
              <a:rPr sz="1600"/>
              <a:t>The platform combines soil information, location and weather patterns to guide the farmer before money is committed to seed, labour and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1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CROP</a:t>
            </a:r>
            <a:br/>
            <a: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2084831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t>What crops best match the farm’s soil and environmental conditions?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WEATHER &amp;</a:t>
            </a:r>
            <a:br/>
            <a:r>
              <a:t>PLANTING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657600"/>
            <a:ext cx="2084831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t>What conditions are expected, and is this a favourable time to plant?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27648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EXPECTED</a:t>
            </a:r>
            <a:br/>
            <a:r>
              <a:t>YIELD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57600"/>
            <a:ext cx="2084831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t>What harvest period and indicative yield range can the farmer plan around?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89136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MARKET</a:t>
            </a:r>
            <a:br/>
            <a:r>
              <a:t>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657600"/>
            <a:ext cx="2084831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t>What market information is available, and how can expected produce connect to buyers?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5010912"/>
            <a:ext cx="10241280" cy="530352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166360"/>
            <a:ext cx="9784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50" b="1">
                <a:solidFill>
                  <a:srgbClr val="224C30"/>
                </a:solidFill>
                <a:latin typeface="Aptos"/>
              </a:defRPr>
            </a:pPr>
            <a:r>
              <a:t>SOIL + LOCATION + WEATHER + AI  →  CROP PLAN  →  YIELD OUTLOOK  →  MARKET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393192"/>
            <a:ext cx="25603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27041"/>
                </a:solidFill>
                <a:latin typeface="Aptos"/>
              </a:defRPr>
            </a:pPr>
            <a:r>
              <a:rPr sz="1600" dirty="0"/>
              <a:t>03 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13232"/>
            <a:ext cx="10332720" cy="5669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800" b="1">
                <a:solidFill>
                  <a:srgbClr val="224C30"/>
                </a:solidFill>
                <a:latin typeface="Aptos Display"/>
              </a:defRPr>
            </a:pPr>
            <a:r>
              <a:rPr dirty="0"/>
              <a:t>A farmer can move from a question to a complete farm plan in four simple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13916"/>
            <a:ext cx="103327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0">
                <a:solidFill>
                  <a:srgbClr val="5B6759"/>
                </a:solidFill>
                <a:latin typeface="Aptos"/>
              </a:defRPr>
            </a:pPr>
            <a:r>
              <a:rPr lang="en-US" sz="1600" dirty="0"/>
              <a:t>CropXcel</a:t>
            </a:r>
            <a:r>
              <a:rPr sz="1600" dirty="0"/>
              <a:t> keeps the farmer-facing experience simple while the analysis happens behind the scenes.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320" y="2054542"/>
            <a:ext cx="4572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9640" y="2365239"/>
            <a:ext cx="4023360" cy="2923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D2A94F"/>
                </a:solidFill>
                <a:latin typeface="Aptos"/>
              </a:defRPr>
            </a:pPr>
            <a:r>
              <a:rPr dirty="0"/>
              <a:t>THE FARMER JOURNEY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022092"/>
            <a:ext cx="420624" cy="420624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14389"/>
            <a:ext cx="420624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044952"/>
            <a:ext cx="14173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427041"/>
                </a:solidFill>
                <a:latin typeface="Aptos"/>
              </a:defRPr>
            </a:pPr>
            <a:r>
              <a:rPr dirty="0"/>
              <a:t>Select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44952"/>
            <a:ext cx="19659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80" b="0">
                <a:solidFill>
                  <a:srgbClr val="28372A"/>
                </a:solidFill>
                <a:latin typeface="Aptos"/>
              </a:defRPr>
            </a:pPr>
            <a:r>
              <a:rPr dirty="0"/>
              <a:t>Use GPS or search for the farm’s area.</a:t>
            </a:r>
          </a:p>
        </p:txBody>
      </p:sp>
      <p:sp>
        <p:nvSpPr>
          <p:cNvPr id="16" name="Oval 15"/>
          <p:cNvSpPr/>
          <p:nvPr/>
        </p:nvSpPr>
        <p:spPr>
          <a:xfrm>
            <a:off x="914590" y="3676459"/>
            <a:ext cx="420624" cy="420624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57154"/>
            <a:ext cx="420624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3759854"/>
            <a:ext cx="1417320" cy="30008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427041"/>
                </a:solidFill>
                <a:latin typeface="Aptos"/>
              </a:defRPr>
            </a:pPr>
            <a:r>
              <a:rPr dirty="0"/>
              <a:t>Choose a crop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687889"/>
            <a:ext cx="1965960" cy="4247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80" b="0">
                <a:solidFill>
                  <a:srgbClr val="28372A"/>
                </a:solidFill>
                <a:latin typeface="Aptos"/>
              </a:defRPr>
            </a:pPr>
            <a:r>
              <a:rPr dirty="0"/>
              <a:t>Check a crop or ask </a:t>
            </a:r>
            <a:r>
              <a:rPr lang="en-US" dirty="0"/>
              <a:t>CropXcel</a:t>
            </a:r>
            <a:r>
              <a:rPr dirty="0"/>
              <a:t> to recommend suitable options.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389120"/>
            <a:ext cx="420624" cy="420624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465814"/>
            <a:ext cx="420624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0368" y="4484629"/>
            <a:ext cx="1533144" cy="30008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427041"/>
                </a:solidFill>
                <a:latin typeface="Aptos"/>
              </a:defRPr>
            </a:pPr>
            <a:r>
              <a:rPr dirty="0"/>
              <a:t>Choose the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4434840"/>
            <a:ext cx="196596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80" b="0">
                <a:solidFill>
                  <a:srgbClr val="28372A"/>
                </a:solidFill>
                <a:latin typeface="Aptos"/>
              </a:defRPr>
            </a:pPr>
            <a:r>
              <a:rPr dirty="0"/>
              <a:t>View current or coming months to assess planting conditions.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16880" y="2093976"/>
            <a:ext cx="5760720" cy="3520440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0" y="2139696"/>
            <a:ext cx="507492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D2A94F"/>
                </a:solidFill>
                <a:latin typeface="Aptos"/>
              </a:defRPr>
            </a:pPr>
            <a:r>
              <a:rPr dirty="0"/>
              <a:t>WHAT </a:t>
            </a:r>
            <a:r>
              <a:rPr lang="en-US" dirty="0"/>
              <a:t>CROPXCEL</a:t>
            </a:r>
            <a:r>
              <a:rPr dirty="0"/>
              <a:t> RETURNS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2578608"/>
            <a:ext cx="5120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2743200"/>
            <a:ext cx="46634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224C30"/>
                </a:solidFill>
                <a:latin typeface="Aptos"/>
              </a:defRPr>
            </a:pPr>
            <a:r>
              <a:t>🌱  Best-fit crops / crop suitability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3364992"/>
            <a:ext cx="5120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29584"/>
            <a:ext cx="46634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224C30"/>
                </a:solidFill>
                <a:latin typeface="Aptos"/>
              </a:defRPr>
            </a:pPr>
            <a:r>
              <a:t>🌦  Weather outlook + planting window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4151376"/>
            <a:ext cx="5120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60" y="4315968"/>
            <a:ext cx="46634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224C30"/>
                </a:solidFill>
                <a:latin typeface="Aptos"/>
              </a:defRPr>
            </a:pPr>
            <a:r>
              <a:t>📈  Expected harvest + indicative yield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4937760"/>
            <a:ext cx="5120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5102352"/>
            <a:ext cx="46634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00" b="1">
                <a:solidFill>
                  <a:srgbClr val="224C30"/>
                </a:solidFill>
                <a:latin typeface="Aptos"/>
              </a:defRPr>
            </a:pPr>
            <a:r>
              <a:rPr dirty="0"/>
              <a:t>🛒  Market information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393192"/>
            <a:ext cx="30175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427041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EXISTING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49808"/>
            <a:ext cx="1024128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224C30"/>
                </a:solidFill>
                <a:latin typeface="Aptos Display"/>
              </a:defRPr>
            </a:pPr>
            <a:r>
              <a:t>Digital agriculture already exists. CropXcel connects what is still fragmented.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241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5B6759"/>
                </a:solidFill>
                <a:latin typeface="Aptos"/>
              </a:defRPr>
            </a:pPr>
            <a:r>
              <a:t>Existing tools solve valuable parts of the farming journey. Our advantage is connecting those parts into one continuous decision pathway.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1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WEATHER</a:t>
            </a:r>
            <a:br/>
            <a:r>
              <a:t>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2084831" cy="800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dirty="0"/>
              <a:t>Forecast rainfall and temperature  but do not tell the farmer what crop best fits that specific farm.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SOIL MAPPING /</a:t>
            </a:r>
            <a:br/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657600"/>
            <a:ext cx="2084831" cy="800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dirty="0"/>
              <a:t>Provides soil characteristics  but soil information alone does not create a complete production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27648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CROP</a:t>
            </a:r>
            <a:br/>
            <a: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57600"/>
            <a:ext cx="2084831" cy="6232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dirty="0"/>
              <a:t>Suggests suitable crops  but often stops at the question of what to grow.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89136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926080"/>
            <a:ext cx="214884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rgbClr val="427041"/>
                </a:solidFill>
                <a:latin typeface="Aptos"/>
              </a:defRPr>
            </a:pPr>
            <a:r>
              <a:t>AGRICULTURAL</a:t>
            </a:r>
            <a:br/>
            <a:r>
              <a:t>MARKETPLACES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3657600"/>
            <a:ext cx="2084831" cy="8002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dirty="0"/>
              <a:t>Connect farmers and buyers but typically focus on produce that is already available or near harvest.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5010912"/>
            <a:ext cx="10241280" cy="530352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166360"/>
            <a:ext cx="978408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224C30"/>
                </a:solidFill>
                <a:latin typeface="Aptos"/>
              </a:defRPr>
            </a:pPr>
            <a:r>
              <a:t>CROPXCEL EDGE:  FARM DATA  →  WHAT TO GROW  →  WHEN TO PLANT  →  WHAT TO EXPECT  →  WHERE TO SELL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393192"/>
            <a:ext cx="30175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600" b="1" dirty="0">
                <a:solidFill>
                  <a:srgbClr val="224C30"/>
                </a:solidFill>
                <a:latin typeface="Aptos Display"/>
              </a:rPr>
              <a:t>0</a:t>
            </a:r>
            <a:r>
              <a:rPr lang="en-US" sz="1600" b="1" dirty="0">
                <a:solidFill>
                  <a:srgbClr val="224C30"/>
                </a:solidFill>
                <a:latin typeface="Aptos Display"/>
              </a:rPr>
              <a:t>5</a:t>
            </a:r>
            <a:r>
              <a:rPr sz="1600" b="1" dirty="0">
                <a:solidFill>
                  <a:srgbClr val="224C30"/>
                </a:solidFill>
                <a:latin typeface="Aptos Display"/>
              </a:rPr>
              <a:t> 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49808"/>
            <a:ext cx="1024128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2600" b="1">
                <a:solidFill>
                  <a:srgbClr val="224C30"/>
                </a:solidFill>
                <a:latin typeface="Aptos Display"/>
              </a:rPr>
              <a:t>Tools powering CropXcel: maps, APIs and machine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10241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300" b="0">
                <a:solidFill>
                  <a:srgbClr val="4B5242"/>
                </a:solidFill>
                <a:latin typeface="Aptos"/>
              </a:rPr>
              <a:t>The platform combines a farmer-friendly web interface, Flask backend, soil and weather data, and a Random Forest model trained with scikit-learn.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1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26080"/>
            <a:ext cx="2148840" cy="30777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400" b="1" dirty="0">
                <a:solidFill>
                  <a:srgbClr val="224C30"/>
                </a:solidFill>
                <a:latin typeface="Aptos Display"/>
              </a:rPr>
              <a:t>FRONTEND</a:t>
            </a:r>
            <a:r>
              <a:rPr lang="en-US" sz="1400" b="1" dirty="0">
                <a:solidFill>
                  <a:srgbClr val="224C30"/>
                </a:solidFill>
                <a:latin typeface="Aptos Display"/>
              </a:rPr>
              <a:t> </a:t>
            </a:r>
            <a:r>
              <a:rPr sz="1400" b="1" dirty="0">
                <a:solidFill>
                  <a:srgbClr val="224C30"/>
                </a:solidFill>
                <a:latin typeface="Aptos Display"/>
              </a:rPr>
              <a:t>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19498"/>
            <a:ext cx="2084831" cy="98488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400" dirty="0">
                <a:solidFill>
                  <a:srgbClr val="3A4733"/>
                </a:solidFill>
                <a:latin typeface="Aptos"/>
              </a:rPr>
              <a:t>HTML, CSS and </a:t>
            </a:r>
            <a:r>
              <a:rPr sz="1600" dirty="0">
                <a:solidFill>
                  <a:srgbClr val="3A4733"/>
                </a:solidFill>
                <a:latin typeface="Aptos"/>
              </a:rPr>
              <a:t>JavaScript</a:t>
            </a:r>
            <a:r>
              <a:rPr sz="1400" dirty="0">
                <a:solidFill>
                  <a:srgbClr val="3A4733"/>
                </a:solidFill>
                <a:latin typeface="Aptos"/>
              </a:rPr>
              <a:t> create the farmer-facing pages, forms and results display.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926080"/>
            <a:ext cx="2148840" cy="32316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 dirty="0">
                <a:solidFill>
                  <a:srgbClr val="224C30"/>
                </a:solidFill>
                <a:latin typeface="Aptos Display"/>
              </a:rPr>
              <a:t>BACKEND &amp;</a:t>
            </a:r>
            <a:r>
              <a:rPr lang="en-US" sz="1500" b="1" dirty="0">
                <a:solidFill>
                  <a:srgbClr val="224C30"/>
                </a:solidFill>
                <a:latin typeface="Aptos Display"/>
              </a:rPr>
              <a:t> </a:t>
            </a:r>
            <a:r>
              <a:rPr sz="1500" b="1" dirty="0">
                <a:solidFill>
                  <a:srgbClr val="224C30"/>
                </a:solidFill>
                <a:latin typeface="Aptos Display"/>
              </a:rPr>
              <a:t>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404693"/>
            <a:ext cx="2084831" cy="98488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400" dirty="0">
                <a:solidFill>
                  <a:srgbClr val="3A4733"/>
                </a:solidFill>
                <a:latin typeface="Aptos"/>
              </a:rPr>
              <a:t>Flask handles </a:t>
            </a:r>
            <a:r>
              <a:rPr sz="1600" dirty="0">
                <a:solidFill>
                  <a:srgbClr val="3A4733"/>
                </a:solidFill>
                <a:latin typeface="Aptos"/>
              </a:rPr>
              <a:t>requests</a:t>
            </a:r>
            <a:r>
              <a:rPr sz="1400" dirty="0">
                <a:solidFill>
                  <a:srgbClr val="3A4733"/>
                </a:solidFill>
                <a:latin typeface="Aptos"/>
              </a:rPr>
              <a:t> and connects to Weather API and </a:t>
            </a:r>
            <a:r>
              <a:rPr sz="1400" dirty="0" err="1">
                <a:solidFill>
                  <a:srgbClr val="3A4733"/>
                </a:solidFill>
                <a:latin typeface="Aptos"/>
              </a:rPr>
              <a:t>iSDAsoil</a:t>
            </a:r>
            <a:r>
              <a:rPr sz="1400" dirty="0">
                <a:solidFill>
                  <a:srgbClr val="3A4733"/>
                </a:solidFill>
                <a:latin typeface="Aptos"/>
              </a:rPr>
              <a:t> API for live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27648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926080"/>
            <a:ext cx="2148840" cy="32316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 dirty="0">
                <a:solidFill>
                  <a:srgbClr val="224C30"/>
                </a:solidFill>
                <a:latin typeface="Aptos Display"/>
              </a:rPr>
              <a:t>MAPPING &amp;</a:t>
            </a:r>
            <a:r>
              <a:rPr lang="en-US" sz="1500" b="1" dirty="0">
                <a:solidFill>
                  <a:srgbClr val="224C30"/>
                </a:solidFill>
                <a:latin typeface="Aptos Display"/>
              </a:rPr>
              <a:t> </a:t>
            </a:r>
            <a:r>
              <a:rPr sz="1500" b="1" dirty="0">
                <a:solidFill>
                  <a:srgbClr val="224C30"/>
                </a:solidFill>
                <a:latin typeface="Aptos Display"/>
              </a:rPr>
              <a:t>DATASETS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359849"/>
            <a:ext cx="2121408" cy="98488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400" dirty="0">
                <a:solidFill>
                  <a:srgbClr val="3A4733"/>
                </a:solidFill>
                <a:latin typeface="Aptos"/>
              </a:rPr>
              <a:t>Leaflet.js </a:t>
            </a:r>
            <a:r>
              <a:rPr lang="en-GB" sz="1400" dirty="0">
                <a:solidFill>
                  <a:srgbClr val="3A4733"/>
                </a:solidFill>
                <a:latin typeface="Aptos"/>
              </a:rPr>
              <a:t>power's</a:t>
            </a:r>
            <a:r>
              <a:rPr sz="1400" dirty="0">
                <a:solidFill>
                  <a:srgbClr val="3A4733"/>
                </a:solidFill>
                <a:latin typeface="Aptos"/>
              </a:rPr>
              <a:t> location maps. Training </a:t>
            </a:r>
            <a:r>
              <a:rPr sz="1600" dirty="0">
                <a:solidFill>
                  <a:srgbClr val="3A4733"/>
                </a:solidFill>
                <a:latin typeface="Aptos"/>
              </a:rPr>
              <a:t>data</a:t>
            </a:r>
            <a:r>
              <a:rPr sz="1400" dirty="0">
                <a:solidFill>
                  <a:srgbClr val="3A4733"/>
                </a:solidFill>
                <a:latin typeface="Aptos"/>
              </a:rPr>
              <a:t> comes from Kaggle and </a:t>
            </a:r>
            <a:r>
              <a:rPr sz="1400" dirty="0" err="1">
                <a:solidFill>
                  <a:srgbClr val="3A4733"/>
                </a:solidFill>
                <a:latin typeface="Aptos"/>
              </a:rPr>
              <a:t>iSDAsoil</a:t>
            </a:r>
            <a:r>
              <a:rPr sz="1400" dirty="0">
                <a:solidFill>
                  <a:srgbClr val="3A4733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89136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926080"/>
            <a:ext cx="2148840" cy="32316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 dirty="0">
                <a:solidFill>
                  <a:srgbClr val="224C30"/>
                </a:solidFill>
                <a:latin typeface="Aptos Display"/>
              </a:rPr>
              <a:t>MODEL</a:t>
            </a:r>
            <a:r>
              <a:rPr lang="en-US" sz="1500" b="1" dirty="0">
                <a:solidFill>
                  <a:srgbClr val="224C30"/>
                </a:solidFill>
                <a:latin typeface="Aptos Display"/>
              </a:rPr>
              <a:t> </a:t>
            </a:r>
            <a:r>
              <a:rPr sz="1500" b="1" dirty="0">
                <a:solidFill>
                  <a:srgbClr val="224C30"/>
                </a:solidFill>
                <a:latin typeface="Aptos Display"/>
              </a:rPr>
              <a:t>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5" y="3419498"/>
            <a:ext cx="2084831" cy="116955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400" dirty="0">
                <a:solidFill>
                  <a:srgbClr val="3A4733"/>
                </a:solidFill>
                <a:latin typeface="Aptos"/>
              </a:rPr>
              <a:t>Random Forest is the model. scikit-learn is the Python machine-learning library used to train, test and run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5010912"/>
            <a:ext cx="10241280" cy="530352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166360"/>
            <a:ext cx="9784080" cy="30777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400" b="1">
                <a:solidFill>
                  <a:srgbClr val="224C30"/>
                </a:solidFill>
                <a:latin typeface="Aptos"/>
              </a:rPr>
              <a:t>TECH PIPELINE:  FARMER INPUT  →  MAP + SOIL + WEATHER DATA  →  RANDOM FOREST MODEL  →  CROP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12191695" cy="228600"/>
          </a:xfrm>
          <a:prstGeom prst="rect">
            <a:avLst/>
          </a:prstGeom>
          <a:solidFill>
            <a:srgbClr val="427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614416"/>
            <a:ext cx="12191695" cy="182880"/>
          </a:xfrm>
          <a:prstGeom prst="rect">
            <a:avLst/>
          </a:prstGeom>
          <a:solidFill>
            <a:srgbClr val="769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D2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393192"/>
            <a:ext cx="3017520" cy="33855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1">
                <a:solidFill>
                  <a:srgbClr val="427041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49808"/>
            <a:ext cx="1024128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224C30"/>
                </a:solidFill>
                <a:latin typeface="Aptos Display"/>
              </a:defRPr>
            </a:pPr>
            <a:r>
              <a:t>Prove value first. Scale through farmers, organisations and national partnerships.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2412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5B6759"/>
                </a:solidFill>
                <a:latin typeface="Aptos"/>
              </a:defRPr>
            </a:pPr>
            <a:r>
              <a:t>CropXcel starts with a free pilot, then grows through affordable subscriptions and institutional partnerships.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4671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926080"/>
            <a:ext cx="2148840" cy="64633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dirty="0"/>
              <a:t>PILOT</a:t>
            </a:r>
            <a:r>
              <a:rPr lang="en-US" dirty="0"/>
              <a:t> </a:t>
            </a:r>
            <a:r>
              <a:rPr dirty="0"/>
              <a:t>PROGRAM</a:t>
            </a:r>
            <a:br>
              <a:rPr dirty="0"/>
            </a:b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04671" y="3339238"/>
            <a:ext cx="2185416" cy="1015663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sz="1200"/>
              <a:t>1–2 months free with 500 farmers to validate recommendations, measure impact and build trust before charging.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926080"/>
            <a:ext cx="2148840" cy="64633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dirty="0"/>
              <a:t>INDIVIDUAL</a:t>
            </a:r>
            <a:r>
              <a:rPr lang="en-US" dirty="0"/>
              <a:t> </a:t>
            </a:r>
            <a:r>
              <a:rPr dirty="0"/>
              <a:t>FARMERS</a:t>
            </a:r>
            <a:br>
              <a:rPr dirty="0"/>
            </a:b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602736" y="3392424"/>
            <a:ext cx="2084831" cy="83099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sz="1200" dirty="0"/>
              <a:t>UGX 5,000 per farmer / month. At 10,000 farmers: UGX 50M monthly revenue  UGX 600M per year.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27648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807208"/>
            <a:ext cx="2148840" cy="92333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dirty="0"/>
              <a:t>COMPANIES &amp;
COOPERATIVES</a:t>
            </a:r>
            <a:br>
              <a:rPr dirty="0"/>
            </a:b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428233" y="3437327"/>
            <a:ext cx="2084831" cy="83099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sz="1200" dirty="0"/>
              <a:t>UGX 100,000 per month for a 50-farmer package  giving organisations a simple way to support farmer groups.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148840"/>
            <a:ext cx="2542032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089136" y="2331720"/>
            <a:ext cx="457200" cy="457200"/>
          </a:xfrm>
          <a:prstGeom prst="ellipse">
            <a:avLst/>
          </a:prstGeom>
          <a:solidFill>
            <a:srgbClr val="22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243230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2807208"/>
            <a:ext cx="2148840" cy="92333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dirty="0"/>
              <a:t>NGO &amp; GOVERNMENT
PARTNERSHIPS</a:t>
            </a:r>
            <a:br>
              <a:rPr dirty="0"/>
            </a:b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121140" y="3441523"/>
            <a:ext cx="2084831" cy="1015663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50" b="0">
                <a:solidFill>
                  <a:srgbClr val="28372A"/>
                </a:solidFill>
                <a:latin typeface="Aptos"/>
              </a:defRPr>
            </a:pPr>
            <a:r>
              <a:rPr sz="1200" dirty="0"/>
              <a:t>Partner with NGOs and the Ministry of Agriculture for sponsored farmer access, </a:t>
            </a:r>
            <a:r>
              <a:rPr sz="1200" dirty="0" err="1"/>
              <a:t>programmes</a:t>
            </a:r>
            <a:r>
              <a:rPr sz="1200" dirty="0"/>
              <a:t>, deployments and scale.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1629" y="5010912"/>
            <a:ext cx="10954947" cy="530352"/>
          </a:xfrm>
          <a:prstGeom prst="roundRect">
            <a:avLst/>
          </a:prstGeom>
          <a:solidFill>
            <a:srgbClr val="E8E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1757" y="5166360"/>
            <a:ext cx="11074690" cy="29238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224C30"/>
                </a:solidFill>
                <a:latin typeface="Aptos"/>
              </a:defRPr>
            </a:pPr>
            <a:r>
              <a:rPr dirty="0"/>
              <a:t>REVENUE ENGINE:  FREE PILOT  →  PROVEN VALUE  →  FARMER SUBSCRIPTIONS  →  ORGANISATIONAL PACKAGES  →  LARGE-SCALE PARTNERSHIPS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869</Words>
  <Application>Microsoft Office PowerPoint</Application>
  <PresentationFormat>Widescreen</PresentationFormat>
  <Paragraphs>108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LOICE MUHINDO B.</dc:creator>
  <cp:keywords/>
  <dc:description>generated using python-pptx</dc:description>
  <cp:lastModifiedBy>aaa</cp:lastModifiedBy>
  <cp:revision>16</cp:revision>
  <dcterms:created xsi:type="dcterms:W3CDTF">2013-01-27T09:14:16Z</dcterms:created>
  <dcterms:modified xsi:type="dcterms:W3CDTF">2026-09-06T05:08:17Z</dcterms:modified>
  <cp:category/>
</cp:coreProperties>
</file>